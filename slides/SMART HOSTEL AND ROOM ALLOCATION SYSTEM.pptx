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Alexandria Bold" charset="1" panose="00000000000000000000"/>
      <p:regular r:id="rId13"/>
    </p:embeddedFont>
    <p:embeddedFont>
      <p:font typeface="Garet" charset="1" panose="00000000000000000000"/>
      <p:regular r:id="rId14"/>
    </p:embeddedFont>
    <p:embeddedFont>
      <p:font typeface="Garet Bold" charset="1" panose="000000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png" Type="http://schemas.openxmlformats.org/officeDocument/2006/relationships/image"/><Relationship Id="rId12" Target="../media/image19.png" Type="http://schemas.openxmlformats.org/officeDocument/2006/relationships/image"/><Relationship Id="rId13" Target="../media/image20.png" Type="http://schemas.openxmlformats.org/officeDocument/2006/relationships/image"/><Relationship Id="rId14" Target="../media/image21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Relationship Id="rId8" Target="../media/image15.pn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3890343" y="5516388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4840371" y="6758253"/>
                </a:moveTo>
                <a:lnTo>
                  <a:pt x="0" y="6758253"/>
                </a:lnTo>
                <a:lnTo>
                  <a:pt x="0" y="0"/>
                </a:lnTo>
                <a:lnTo>
                  <a:pt x="4840371" y="0"/>
                </a:lnTo>
                <a:lnTo>
                  <a:pt x="4840371" y="675825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212327">
            <a:off x="-1633813" y="4706943"/>
            <a:ext cx="7684967" cy="7684967"/>
          </a:xfrm>
          <a:custGeom>
            <a:avLst/>
            <a:gdLst/>
            <a:ahLst/>
            <a:cxnLst/>
            <a:rect r="r" b="b" t="t" l="l"/>
            <a:pathLst>
              <a:path h="7684967" w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2020970" y="4706943"/>
            <a:ext cx="7684967" cy="7684967"/>
          </a:xfrm>
          <a:custGeom>
            <a:avLst/>
            <a:gdLst/>
            <a:ahLst/>
            <a:cxnLst/>
            <a:rect r="r" b="b" t="t" l="l"/>
            <a:pathLst>
              <a:path h="7684967" w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-176744">
            <a:off x="12281842" y="-3234705"/>
            <a:ext cx="6992792" cy="6992792"/>
          </a:xfrm>
          <a:custGeom>
            <a:avLst/>
            <a:gdLst/>
            <a:ahLst/>
            <a:cxnLst/>
            <a:rect r="r" b="b" t="t" l="l"/>
            <a:pathLst>
              <a:path h="6992792" w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12348517" y="-3496396"/>
            <a:ext cx="6992792" cy="6992792"/>
          </a:xfrm>
          <a:custGeom>
            <a:avLst/>
            <a:gdLst/>
            <a:ahLst/>
            <a:cxnLst/>
            <a:rect r="r" b="b" t="t" l="l"/>
            <a:pathLst>
              <a:path h="6992792" w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208671" y="2204253"/>
            <a:ext cx="12951349" cy="2441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09"/>
              </a:lnSpc>
            </a:pPr>
            <a:r>
              <a:rPr lang="en-US" b="true" sz="7006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SMART HOSTEL AND ROOM ALLOCATION SYSTEM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719128" y="6044939"/>
            <a:ext cx="6941407" cy="3039658"/>
            <a:chOff x="0" y="0"/>
            <a:chExt cx="1828190" cy="8005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28190" cy="800568"/>
            </a:xfrm>
            <a:custGeom>
              <a:avLst/>
              <a:gdLst/>
              <a:ahLst/>
              <a:cxnLst/>
              <a:rect r="r" b="b" t="t" l="l"/>
              <a:pathLst>
                <a:path h="800568" w="1828190">
                  <a:moveTo>
                    <a:pt x="63573" y="0"/>
                  </a:moveTo>
                  <a:lnTo>
                    <a:pt x="1764616" y="0"/>
                  </a:lnTo>
                  <a:cubicBezTo>
                    <a:pt x="1799727" y="0"/>
                    <a:pt x="1828190" y="28463"/>
                    <a:pt x="1828190" y="63573"/>
                  </a:cubicBezTo>
                  <a:lnTo>
                    <a:pt x="1828190" y="736995"/>
                  </a:lnTo>
                  <a:cubicBezTo>
                    <a:pt x="1828190" y="753856"/>
                    <a:pt x="1821492" y="770026"/>
                    <a:pt x="1809569" y="781948"/>
                  </a:cubicBezTo>
                  <a:cubicBezTo>
                    <a:pt x="1797647" y="793871"/>
                    <a:pt x="1781477" y="800568"/>
                    <a:pt x="1764616" y="800568"/>
                  </a:cubicBezTo>
                  <a:lnTo>
                    <a:pt x="63573" y="800568"/>
                  </a:lnTo>
                  <a:cubicBezTo>
                    <a:pt x="46713" y="800568"/>
                    <a:pt x="30543" y="793871"/>
                    <a:pt x="18620" y="781948"/>
                  </a:cubicBezTo>
                  <a:cubicBezTo>
                    <a:pt x="6698" y="770026"/>
                    <a:pt x="0" y="753856"/>
                    <a:pt x="0" y="736995"/>
                  </a:cubicBezTo>
                  <a:lnTo>
                    <a:pt x="0" y="63573"/>
                  </a:lnTo>
                  <a:cubicBezTo>
                    <a:pt x="0" y="46713"/>
                    <a:pt x="6698" y="30543"/>
                    <a:pt x="18620" y="18620"/>
                  </a:cubicBezTo>
                  <a:cubicBezTo>
                    <a:pt x="30543" y="6698"/>
                    <a:pt x="46713" y="0"/>
                    <a:pt x="63573" y="0"/>
                  </a:cubicBezTo>
                  <a:close/>
                </a:path>
              </a:pathLst>
            </a:custGeom>
            <a:solidFill>
              <a:srgbClr val="545454"/>
            </a:solidFill>
            <a:ln w="38100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828190" cy="8386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97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7975654" y="6460743"/>
            <a:ext cx="6428357" cy="2150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96"/>
              </a:lnSpc>
            </a:pPr>
            <a:r>
              <a:rPr lang="en-US" sz="3068">
                <a:solidFill>
                  <a:srgbClr val="E9E9E9"/>
                </a:solidFill>
                <a:latin typeface="Garet"/>
                <a:ea typeface="Garet"/>
                <a:cs typeface="Garet"/>
                <a:sym typeface="Garet"/>
              </a:rPr>
              <a:t>Name - Soujash Chatterjee</a:t>
            </a:r>
          </a:p>
          <a:p>
            <a:pPr algn="l">
              <a:lnSpc>
                <a:spcPts val="4296"/>
              </a:lnSpc>
            </a:pPr>
            <a:r>
              <a:rPr lang="en-US" sz="3068">
                <a:solidFill>
                  <a:srgbClr val="E9E9E9"/>
                </a:solidFill>
                <a:latin typeface="Garet"/>
                <a:ea typeface="Garet"/>
                <a:cs typeface="Garet"/>
                <a:sym typeface="Garet"/>
              </a:rPr>
              <a:t>Roll no - 48</a:t>
            </a:r>
          </a:p>
          <a:p>
            <a:pPr algn="l">
              <a:lnSpc>
                <a:spcPts val="4296"/>
              </a:lnSpc>
            </a:pPr>
            <a:r>
              <a:rPr lang="en-US" sz="3068">
                <a:solidFill>
                  <a:srgbClr val="E9E9E9"/>
                </a:solidFill>
                <a:latin typeface="Garet"/>
                <a:ea typeface="Garet"/>
                <a:cs typeface="Garet"/>
                <a:sym typeface="Garet"/>
              </a:rPr>
              <a:t>Enrollment no - 12024052017016</a:t>
            </a:r>
          </a:p>
          <a:p>
            <a:pPr algn="l">
              <a:lnSpc>
                <a:spcPts val="4296"/>
              </a:lnSpc>
              <a:spcBef>
                <a:spcPct val="0"/>
              </a:spcBef>
            </a:pPr>
            <a:r>
              <a:rPr lang="en-US" sz="3068">
                <a:solidFill>
                  <a:srgbClr val="E9E9E9"/>
                </a:solidFill>
                <a:latin typeface="Garet"/>
                <a:ea typeface="Garet"/>
                <a:cs typeface="Garet"/>
                <a:sym typeface="Garet"/>
              </a:rPr>
              <a:t>CSE(IOTCSBT)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270154" y="1935004"/>
            <a:ext cx="8638831" cy="5647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1"/>
              </a:lnSpc>
            </a:pPr>
            <a:r>
              <a:rPr lang="en-US" sz="190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1. Student </a:t>
            </a:r>
          </a:p>
          <a:p>
            <a:pPr algn="l">
              <a:lnSpc>
                <a:spcPts val="2671"/>
              </a:lnSpc>
            </a:pPr>
            <a:r>
              <a:rPr lang="en-US" sz="190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Encapsulates student data (ID, name) </a:t>
            </a:r>
          </a:p>
          <a:p>
            <a:pPr algn="l">
              <a:lnSpc>
                <a:spcPts val="2671"/>
              </a:lnSpc>
            </a:pPr>
            <a:r>
              <a:rPr lang="en-US" sz="190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Provides controlled access using getters </a:t>
            </a:r>
          </a:p>
          <a:p>
            <a:pPr algn="l">
              <a:lnSpc>
                <a:spcPts val="2671"/>
              </a:lnSpc>
            </a:pPr>
          </a:p>
          <a:p>
            <a:pPr algn="l">
              <a:lnSpc>
                <a:spcPts val="2671"/>
              </a:lnSpc>
            </a:pPr>
            <a:r>
              <a:rPr lang="en-US" sz="190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2. Room </a:t>
            </a:r>
          </a:p>
          <a:p>
            <a:pPr algn="l">
              <a:lnSpc>
                <a:spcPts val="2671"/>
              </a:lnSpc>
            </a:pPr>
            <a:r>
              <a:rPr lang="en-US" sz="190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Encapsulates room details (room no, capacity, students list) </a:t>
            </a:r>
          </a:p>
          <a:p>
            <a:pPr algn="l">
              <a:lnSpc>
                <a:spcPts val="2671"/>
              </a:lnSpc>
            </a:pPr>
            <a:r>
              <a:rPr lang="en-US" sz="190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Implements core business logic: </a:t>
            </a:r>
          </a:p>
          <a:p>
            <a:pPr algn="l">
              <a:lnSpc>
                <a:spcPts val="2671"/>
              </a:lnSpc>
            </a:pPr>
            <a:r>
              <a:rPr lang="en-US" sz="190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•addStudent() </a:t>
            </a:r>
          </a:p>
          <a:p>
            <a:pPr algn="l">
              <a:lnSpc>
                <a:spcPts val="2671"/>
              </a:lnSpc>
            </a:pPr>
            <a:r>
              <a:rPr lang="en-US" sz="190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•isFull() </a:t>
            </a:r>
          </a:p>
          <a:p>
            <a:pPr algn="l">
              <a:lnSpc>
                <a:spcPts val="2671"/>
              </a:lnSpc>
            </a:pPr>
            <a:r>
              <a:rPr lang="en-US" sz="190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Maintains object relationship </a:t>
            </a:r>
          </a:p>
          <a:p>
            <a:pPr algn="l">
              <a:lnSpc>
                <a:spcPts val="2671"/>
              </a:lnSpc>
            </a:pPr>
          </a:p>
          <a:p>
            <a:pPr algn="l">
              <a:lnSpc>
                <a:spcPts val="2671"/>
              </a:lnSpc>
            </a:pPr>
            <a:r>
              <a:rPr lang="en-US" sz="190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3. HostelManagementSystem </a:t>
            </a:r>
          </a:p>
          <a:p>
            <a:pPr algn="l">
              <a:lnSpc>
                <a:spcPts val="2671"/>
              </a:lnSpc>
            </a:pPr>
            <a:r>
              <a:rPr lang="en-US" sz="190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Acts as controller layer </a:t>
            </a:r>
          </a:p>
          <a:p>
            <a:pPr algn="l">
              <a:lnSpc>
                <a:spcPts val="2671"/>
              </a:lnSpc>
            </a:pPr>
            <a:r>
              <a:rPr lang="en-US" sz="190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Handles user input and decision-making </a:t>
            </a:r>
          </a:p>
          <a:p>
            <a:pPr algn="l">
              <a:lnSpc>
                <a:spcPts val="2671"/>
              </a:lnSpc>
            </a:pPr>
            <a:r>
              <a:rPr lang="en-US" sz="190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Coordinates between Student and Room objects </a:t>
            </a:r>
          </a:p>
          <a:p>
            <a:pPr algn="l">
              <a:lnSpc>
                <a:spcPts val="2671"/>
              </a:lnSpc>
            </a:pPr>
            <a:r>
              <a:rPr lang="en-US" sz="190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Maintains collections (List of Students, Rooms) </a:t>
            </a:r>
          </a:p>
          <a:p>
            <a:pPr algn="l">
              <a:lnSpc>
                <a:spcPts val="2671"/>
              </a:lnSpc>
              <a:spcBef>
                <a:spcPct val="0"/>
              </a:spcBef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1025242" y="1028700"/>
            <a:ext cx="5824801" cy="8076628"/>
          </a:xfrm>
          <a:custGeom>
            <a:avLst/>
            <a:gdLst/>
            <a:ahLst/>
            <a:cxnLst/>
            <a:rect r="r" b="b" t="t" l="l"/>
            <a:pathLst>
              <a:path h="8076628" w="5824801">
                <a:moveTo>
                  <a:pt x="0" y="0"/>
                </a:moveTo>
                <a:lnTo>
                  <a:pt x="5824801" y="0"/>
                </a:lnTo>
                <a:lnTo>
                  <a:pt x="5824801" y="8076628"/>
                </a:lnTo>
                <a:lnTo>
                  <a:pt x="0" y="80766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620" t="-4015" r="-620" b="-5505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298965" y="1048016"/>
            <a:ext cx="10131584" cy="587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68"/>
              </a:lnSpc>
            </a:pPr>
            <a:r>
              <a:rPr lang="en-US" b="true" sz="3477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KEY CLASSES &amp; RESPONSIBILITIES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19736" y="7357146"/>
            <a:ext cx="9563575" cy="549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95"/>
              </a:lnSpc>
            </a:pPr>
            <a:r>
              <a:rPr lang="en-US" b="true" sz="3282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PACKAGE STRUCTURE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270154" y="7817195"/>
            <a:ext cx="8638831" cy="1646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1"/>
              </a:lnSpc>
            </a:pPr>
          </a:p>
          <a:p>
            <a:pPr algn="l">
              <a:lnSpc>
                <a:spcPts val="2671"/>
              </a:lnSpc>
            </a:pPr>
            <a:r>
              <a:rPr lang="en-US" sz="190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•model (Student, Room, Floor)</a:t>
            </a:r>
          </a:p>
          <a:p>
            <a:pPr algn="l">
              <a:lnSpc>
                <a:spcPts val="2671"/>
              </a:lnSpc>
            </a:pPr>
            <a:r>
              <a:rPr lang="en-US" sz="190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•controller (HostelManager, Main)</a:t>
            </a:r>
          </a:p>
          <a:p>
            <a:pPr algn="l">
              <a:lnSpc>
                <a:spcPts val="2671"/>
              </a:lnSpc>
            </a:pPr>
            <a:r>
              <a:rPr lang="en-US" sz="190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•utility (FileHandler)</a:t>
            </a:r>
          </a:p>
          <a:p>
            <a:pPr algn="l">
              <a:lnSpc>
                <a:spcPts val="2671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3934648" y="1670598"/>
            <a:ext cx="10418705" cy="6945803"/>
          </a:xfrm>
          <a:custGeom>
            <a:avLst/>
            <a:gdLst/>
            <a:ahLst/>
            <a:cxnLst/>
            <a:rect r="r" b="b" t="t" l="l"/>
            <a:pathLst>
              <a:path h="6945803" w="10418705">
                <a:moveTo>
                  <a:pt x="0" y="0"/>
                </a:moveTo>
                <a:lnTo>
                  <a:pt x="10418704" y="0"/>
                </a:lnTo>
                <a:lnTo>
                  <a:pt x="10418704" y="6945804"/>
                </a:lnTo>
                <a:lnTo>
                  <a:pt x="0" y="69458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064884" y="898825"/>
            <a:ext cx="13319341" cy="8359475"/>
          </a:xfrm>
          <a:custGeom>
            <a:avLst/>
            <a:gdLst/>
            <a:ahLst/>
            <a:cxnLst/>
            <a:rect r="r" b="b" t="t" l="l"/>
            <a:pathLst>
              <a:path h="8359475" w="13319341">
                <a:moveTo>
                  <a:pt x="0" y="0"/>
                </a:moveTo>
                <a:lnTo>
                  <a:pt x="13319341" y="0"/>
                </a:lnTo>
                <a:lnTo>
                  <a:pt x="13319341" y="8359475"/>
                </a:lnTo>
                <a:lnTo>
                  <a:pt x="0" y="83594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450" r="0" b="-477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541415" y="149608"/>
            <a:ext cx="9563575" cy="549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95"/>
              </a:lnSpc>
            </a:pPr>
            <a:r>
              <a:rPr lang="en-US" b="true" sz="3282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UML DIAGRAM</a:t>
            </a:r>
          </a:p>
        </p:txBody>
      </p:sp>
    </p:spTree>
  </p:cSld>
  <p:clrMapOvr>
    <a:masterClrMapping/>
  </p:clrMapOvr>
  <p:transition spd="slow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399082" y="279705"/>
            <a:ext cx="12944415" cy="1871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88"/>
              </a:lnSpc>
            </a:pPr>
            <a:r>
              <a:rPr lang="en-US" b="true" sz="5277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OOPS CONCEPT USED</a:t>
            </a:r>
          </a:p>
          <a:p>
            <a:pPr algn="ctr">
              <a:lnSpc>
                <a:spcPts val="7808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821514" y="1588332"/>
            <a:ext cx="6498010" cy="3615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6"/>
              </a:lnSpc>
            </a:pPr>
            <a:r>
              <a:rPr lang="en-US" sz="2768" b="true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ENCAPSULATION</a:t>
            </a:r>
          </a:p>
          <a:p>
            <a:pPr algn="l" marL="468263" indent="-234131" lvl="1">
              <a:lnSpc>
                <a:spcPts val="3036"/>
              </a:lnSpc>
              <a:buFont typeface="Arial"/>
              <a:buChar char="•"/>
            </a:pPr>
            <a:r>
              <a:rPr lang="en-US" b="true" sz="2168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Implemented in Student and Room classes </a:t>
            </a:r>
          </a:p>
          <a:p>
            <a:pPr algn="l" marL="468263" indent="-234131" lvl="1">
              <a:lnSpc>
                <a:spcPts val="3036"/>
              </a:lnSpc>
              <a:buFont typeface="Arial"/>
              <a:buChar char="•"/>
            </a:pPr>
            <a:r>
              <a:rPr lang="en-US" b="true" sz="2168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Data members like student id, name, capacity are kept private </a:t>
            </a:r>
          </a:p>
          <a:p>
            <a:pPr algn="l" marL="468263" indent="-234131" lvl="1">
              <a:lnSpc>
                <a:spcPts val="3036"/>
              </a:lnSpc>
              <a:buFont typeface="Arial"/>
              <a:buChar char="•"/>
            </a:pPr>
            <a:r>
              <a:rPr lang="en-US" b="true" sz="2168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Access provided through getter methods </a:t>
            </a:r>
          </a:p>
          <a:p>
            <a:pPr algn="l" marL="468263" indent="-234131" lvl="1">
              <a:lnSpc>
                <a:spcPts val="3036"/>
              </a:lnSpc>
              <a:buFont typeface="Arial"/>
              <a:buChar char="•"/>
            </a:pPr>
            <a:r>
              <a:rPr lang="en-US" b="true" sz="2168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Ensures data security and controlled modification </a:t>
            </a:r>
          </a:p>
          <a:p>
            <a:pPr algn="ctr">
              <a:lnSpc>
                <a:spcPts val="3876"/>
              </a:lnSpc>
              <a:spcBef>
                <a:spcPct val="0"/>
              </a:spcBef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67151" y="5288878"/>
            <a:ext cx="6498010" cy="3234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6"/>
              </a:lnSpc>
            </a:pPr>
            <a:r>
              <a:rPr lang="en-US" sz="2768" b="true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POLYMORPHISM</a:t>
            </a:r>
          </a:p>
          <a:p>
            <a:pPr algn="l" marL="468263" indent="-234131" lvl="1">
              <a:lnSpc>
                <a:spcPts val="3036"/>
              </a:lnSpc>
              <a:buFont typeface="Arial"/>
              <a:buChar char="•"/>
            </a:pPr>
            <a:r>
              <a:rPr lang="en-US" b="true" sz="2168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Enab</a:t>
            </a:r>
            <a:r>
              <a:rPr lang="en-US" b="true" sz="2168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les flexibility in handling various room objects </a:t>
            </a:r>
          </a:p>
          <a:p>
            <a:pPr algn="l" marL="468263" indent="-234131" lvl="1">
              <a:lnSpc>
                <a:spcPts val="3036"/>
              </a:lnSpc>
              <a:buFont typeface="Arial"/>
              <a:buChar char="•"/>
            </a:pPr>
            <a:r>
              <a:rPr lang="en-US" b="true" sz="2168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Suppo</a:t>
            </a:r>
            <a:r>
              <a:rPr lang="en-US" b="true" sz="2168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rts future enhancements without changing existing code</a:t>
            </a:r>
          </a:p>
          <a:p>
            <a:pPr algn="l" marL="468263" indent="-234131" lvl="1">
              <a:lnSpc>
                <a:spcPts val="3036"/>
              </a:lnSpc>
              <a:buFont typeface="Arial"/>
              <a:buChar char="•"/>
            </a:pPr>
            <a:r>
              <a:rPr lang="en-US" b="true" sz="2168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Same method behaves differently for different room types </a:t>
            </a:r>
          </a:p>
          <a:p>
            <a:pPr algn="ctr">
              <a:lnSpc>
                <a:spcPts val="3876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821514" y="5288878"/>
            <a:ext cx="6498010" cy="3234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6"/>
              </a:lnSpc>
            </a:pPr>
            <a:r>
              <a:rPr lang="en-US" sz="2768" b="true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ABSTRACTION</a:t>
            </a:r>
          </a:p>
          <a:p>
            <a:pPr algn="l" marL="468263" indent="-234131" lvl="1">
              <a:lnSpc>
                <a:spcPts val="3036"/>
              </a:lnSpc>
              <a:buFont typeface="Arial"/>
              <a:buChar char="•"/>
            </a:pPr>
            <a:r>
              <a:rPr lang="en-US" b="true" sz="2168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Ap</a:t>
            </a:r>
            <a:r>
              <a:rPr lang="en-US" b="true" sz="2168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plied in room allocation process </a:t>
            </a:r>
          </a:p>
          <a:p>
            <a:pPr algn="l" marL="468263" indent="-234131" lvl="1">
              <a:lnSpc>
                <a:spcPts val="3036"/>
              </a:lnSpc>
              <a:buFont typeface="Arial"/>
              <a:buChar char="•"/>
            </a:pPr>
            <a:r>
              <a:rPr lang="en-US" b="true" sz="2168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Co</a:t>
            </a:r>
            <a:r>
              <a:rPr lang="en-US" b="true" sz="2168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mplex logic hidden inside methods:       Add Student() , is Full() </a:t>
            </a:r>
          </a:p>
          <a:p>
            <a:pPr algn="l" marL="468263" indent="-234131" lvl="1">
              <a:lnSpc>
                <a:spcPts val="3036"/>
              </a:lnSpc>
              <a:buFont typeface="Arial"/>
              <a:buChar char="•"/>
            </a:pPr>
            <a:r>
              <a:rPr lang="en-US" b="true" sz="2168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User interacts only with functionality, not internal implementation </a:t>
            </a:r>
          </a:p>
          <a:p>
            <a:pPr algn="l" marL="468263" indent="-234131" lvl="1">
              <a:lnSpc>
                <a:spcPts val="3036"/>
              </a:lnSpc>
              <a:buFont typeface="Arial"/>
              <a:buChar char="•"/>
            </a:pPr>
            <a:r>
              <a:rPr lang="en-US" b="true" sz="2168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Simplifi</a:t>
            </a:r>
            <a:r>
              <a:rPr lang="en-US" b="true" sz="2168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es usage and reduces complexity</a:t>
            </a:r>
            <a:r>
              <a:rPr lang="en-US" sz="21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</a:p>
          <a:p>
            <a:pPr algn="ctr">
              <a:lnSpc>
                <a:spcPts val="3876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9967151" y="1588332"/>
            <a:ext cx="6498010" cy="3899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6"/>
              </a:lnSpc>
            </a:pPr>
            <a:r>
              <a:rPr lang="en-US" sz="2768" b="true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I</a:t>
            </a:r>
            <a:r>
              <a:rPr lang="en-US" sz="2768" b="true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NHERITANCE</a:t>
            </a:r>
          </a:p>
          <a:p>
            <a:pPr algn="l" marL="468263" indent="-234131" lvl="1">
              <a:lnSpc>
                <a:spcPts val="3036"/>
              </a:lnSpc>
              <a:buFont typeface="Arial"/>
              <a:buChar char="•"/>
            </a:pPr>
            <a:r>
              <a:rPr lang="en-US" b="true" sz="2168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Roo</a:t>
            </a:r>
            <a:r>
              <a:rPr lang="en-US" b="true" sz="2168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m is the base class extended by:          Single Room </a:t>
            </a:r>
          </a:p>
          <a:p>
            <a:pPr algn="l">
              <a:lnSpc>
                <a:spcPts val="3036"/>
              </a:lnSpc>
            </a:pPr>
            <a:r>
              <a:rPr lang="en-US" sz="2168" b="true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   </a:t>
            </a:r>
            <a:r>
              <a:rPr lang="en-US" sz="2168" b="true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    Double Room </a:t>
            </a:r>
          </a:p>
          <a:p>
            <a:pPr algn="l">
              <a:lnSpc>
                <a:spcPts val="3036"/>
              </a:lnSpc>
            </a:pPr>
            <a:r>
              <a:rPr lang="en-US" sz="2168" b="true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       Triple Room </a:t>
            </a:r>
          </a:p>
          <a:p>
            <a:pPr algn="l" marL="468263" indent="-234131" lvl="1">
              <a:lnSpc>
                <a:spcPts val="3036"/>
              </a:lnSpc>
              <a:buFont typeface="Arial"/>
              <a:buChar char="•"/>
            </a:pPr>
            <a:r>
              <a:rPr lang="en-US" b="true" sz="2168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Allows reuse of common attributes like room number and capacity </a:t>
            </a:r>
          </a:p>
          <a:p>
            <a:pPr algn="l" marL="468263" indent="-234131" lvl="1">
              <a:lnSpc>
                <a:spcPts val="3036"/>
              </a:lnSpc>
              <a:buFont typeface="Arial"/>
              <a:buChar char="•"/>
            </a:pPr>
            <a:r>
              <a:rPr lang="en-US" b="true" sz="2168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Improves code reusability and scalability </a:t>
            </a:r>
          </a:p>
          <a:p>
            <a:pPr algn="l">
              <a:lnSpc>
                <a:spcPts val="3036"/>
              </a:lnSpc>
            </a:pPr>
          </a:p>
          <a:p>
            <a:pPr algn="ctr">
              <a:lnSpc>
                <a:spcPts val="3036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cover dir="rd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582699" y="540897"/>
            <a:ext cx="9202559" cy="1870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07"/>
              </a:lnSpc>
            </a:pPr>
            <a:r>
              <a:rPr lang="en-US" b="true" sz="3576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TECHNICAL HIGHLIGHT</a:t>
            </a:r>
          </a:p>
          <a:p>
            <a:pPr algn="l">
              <a:lnSpc>
                <a:spcPts val="5007"/>
              </a:lnSpc>
            </a:pPr>
          </a:p>
          <a:p>
            <a:pPr algn="ctr">
              <a:lnSpc>
                <a:spcPts val="5007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2095272" y="1447705"/>
            <a:ext cx="14889874" cy="564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76"/>
              </a:lnSpc>
            </a:pPr>
            <a:r>
              <a:rPr lang="en-US" sz="3268" b="true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SMART ROOM ALLOCATION LOGIC &amp; ROLE-BASED CONTROL FLOW 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033769" y="2275428"/>
            <a:ext cx="13012879" cy="3139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7800" indent="-298900" lvl="1">
              <a:lnSpc>
                <a:spcPts val="3876"/>
              </a:lnSpc>
              <a:buFont typeface="Arial"/>
              <a:buChar char="•"/>
            </a:pPr>
            <a:r>
              <a:rPr lang="en-US" sz="27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Implements preference-based room allocation with fallback mechanism</a:t>
            </a:r>
          </a:p>
          <a:p>
            <a:pPr algn="l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Ensures capacity management using dynamic room occupancy tracking</a:t>
            </a:r>
          </a:p>
          <a:p>
            <a:pPr algn="l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Uses role-based access control with secure admin authentication</a:t>
            </a:r>
          </a:p>
          <a:p>
            <a:pPr algn="l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Integrates file handling for persistent data storage across sessions</a:t>
            </a:r>
          </a:p>
          <a:p>
            <a:pPr algn="l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Maintains modular structure using HostelManager for centralized logic</a:t>
            </a:r>
          </a:p>
          <a:p>
            <a:pPr algn="l">
              <a:lnSpc>
                <a:spcPts val="2800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04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56616" y="5358113"/>
            <a:ext cx="14889874" cy="538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6"/>
              </a:lnSpc>
            </a:pPr>
            <a:r>
              <a:rPr lang="en-US" sz="3168" b="true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SMART ALLOCATION FLOW: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033769" y="5960884"/>
            <a:ext cx="13012879" cy="1434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7800" indent="-298900" lvl="1">
              <a:lnSpc>
                <a:spcPts val="3876"/>
              </a:lnSpc>
              <a:buFont typeface="Arial"/>
              <a:buChar char="•"/>
            </a:pPr>
            <a:r>
              <a:rPr lang="en-US" sz="27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Check Preference → Find Matchi</a:t>
            </a:r>
            <a:r>
              <a:rPr lang="en-US" sz="27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ng Room → Check Capacity  </a:t>
            </a:r>
          </a:p>
          <a:p>
            <a:pPr algn="l" marL="597800" indent="-298900" lvl="1">
              <a:lnSpc>
                <a:spcPts val="3876"/>
              </a:lnSpc>
              <a:buFont typeface="Arial"/>
              <a:buChar char="•"/>
            </a:pPr>
            <a:r>
              <a:rPr lang="en-US" sz="27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→ Allocate Preferred Room  </a:t>
            </a:r>
          </a:p>
          <a:p>
            <a:pPr algn="l">
              <a:lnSpc>
                <a:spcPts val="3877"/>
              </a:lnSpc>
            </a:pPr>
            <a:r>
              <a:rPr lang="en-US" sz="276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     </a:t>
            </a:r>
            <a:r>
              <a:rPr lang="en-US" sz="276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Else → Assign Random Available Room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56616" y="7550193"/>
            <a:ext cx="14889874" cy="2224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6"/>
              </a:lnSpc>
            </a:pPr>
            <a:r>
              <a:rPr lang="en-US" sz="3168" b="true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ACCESS CONTROL FLOW:</a:t>
            </a:r>
          </a:p>
          <a:p>
            <a:pPr algn="l">
              <a:lnSpc>
                <a:spcPts val="4436"/>
              </a:lnSpc>
            </a:pPr>
          </a:p>
          <a:p>
            <a:pPr algn="l">
              <a:lnSpc>
                <a:spcPts val="4436"/>
              </a:lnSpc>
            </a:pPr>
          </a:p>
          <a:p>
            <a:pPr algn="l">
              <a:lnSpc>
                <a:spcPts val="4436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3033769" y="8192820"/>
            <a:ext cx="13012879" cy="948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7800" indent="-298900" lvl="1">
              <a:lnSpc>
                <a:spcPts val="3876"/>
              </a:lnSpc>
              <a:buFont typeface="Arial"/>
              <a:buChar char="•"/>
            </a:pPr>
            <a:r>
              <a:rPr lang="en-US" sz="27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Login → Verify Credentials → Assi</a:t>
            </a:r>
            <a:r>
              <a:rPr lang="en-US" sz="27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gn Role  </a:t>
            </a:r>
          </a:p>
          <a:p>
            <a:pPr algn="l">
              <a:lnSpc>
                <a:spcPts val="3877"/>
              </a:lnSpc>
            </a:pPr>
            <a:r>
              <a:rPr lang="en-US" sz="276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      </a:t>
            </a:r>
            <a:r>
              <a:rPr lang="en-US" sz="276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→ Allow / R</a:t>
            </a:r>
            <a:r>
              <a:rPr lang="en-US" sz="276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estrict Operations</a:t>
            </a:r>
          </a:p>
        </p:txBody>
      </p:sp>
    </p:spTree>
  </p:cSld>
  <p:clrMapOvr>
    <a:masterClrMapping/>
  </p:clrMapOvr>
  <p:transition spd="slow">
    <p:cover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1642869"/>
            <a:ext cx="4575017" cy="6405432"/>
          </a:xfrm>
          <a:custGeom>
            <a:avLst/>
            <a:gdLst/>
            <a:ahLst/>
            <a:cxnLst/>
            <a:rect r="r" b="b" t="t" l="l"/>
            <a:pathLst>
              <a:path h="6405432" w="4575017">
                <a:moveTo>
                  <a:pt x="0" y="0"/>
                </a:moveTo>
                <a:lnTo>
                  <a:pt x="4575017" y="0"/>
                </a:lnTo>
                <a:lnTo>
                  <a:pt x="4575017" y="6405432"/>
                </a:lnTo>
                <a:lnTo>
                  <a:pt x="0" y="64054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714" t="0" r="-1714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896091" y="1642869"/>
            <a:ext cx="5602622" cy="1519163"/>
          </a:xfrm>
          <a:custGeom>
            <a:avLst/>
            <a:gdLst/>
            <a:ahLst/>
            <a:cxnLst/>
            <a:rect r="r" b="b" t="t" l="l"/>
            <a:pathLst>
              <a:path h="1519163" w="5602622">
                <a:moveTo>
                  <a:pt x="0" y="0"/>
                </a:moveTo>
                <a:lnTo>
                  <a:pt x="5602622" y="0"/>
                </a:lnTo>
                <a:lnTo>
                  <a:pt x="5602622" y="1519163"/>
                </a:lnTo>
                <a:lnTo>
                  <a:pt x="0" y="15191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643" t="0" r="-371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883548" y="3400157"/>
            <a:ext cx="5615165" cy="1509123"/>
          </a:xfrm>
          <a:custGeom>
            <a:avLst/>
            <a:gdLst/>
            <a:ahLst/>
            <a:cxnLst/>
            <a:rect r="r" b="b" t="t" l="l"/>
            <a:pathLst>
              <a:path h="1509123" w="5615165">
                <a:moveTo>
                  <a:pt x="0" y="0"/>
                </a:moveTo>
                <a:lnTo>
                  <a:pt x="5615165" y="0"/>
                </a:lnTo>
                <a:lnTo>
                  <a:pt x="5615165" y="1509123"/>
                </a:lnTo>
                <a:lnTo>
                  <a:pt x="0" y="150912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774" t="0" r="-14669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774938" y="3400157"/>
            <a:ext cx="5609129" cy="808219"/>
          </a:xfrm>
          <a:custGeom>
            <a:avLst/>
            <a:gdLst/>
            <a:ahLst/>
            <a:cxnLst/>
            <a:rect r="r" b="b" t="t" l="l"/>
            <a:pathLst>
              <a:path h="808219" w="5609129">
                <a:moveTo>
                  <a:pt x="0" y="0"/>
                </a:moveTo>
                <a:lnTo>
                  <a:pt x="5609129" y="0"/>
                </a:lnTo>
                <a:lnTo>
                  <a:pt x="5609129" y="808219"/>
                </a:lnTo>
                <a:lnTo>
                  <a:pt x="0" y="80821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9" t="-12268" r="-947" b="-10516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793988" y="1642869"/>
            <a:ext cx="5590079" cy="1519163"/>
          </a:xfrm>
          <a:custGeom>
            <a:avLst/>
            <a:gdLst/>
            <a:ahLst/>
            <a:cxnLst/>
            <a:rect r="r" b="b" t="t" l="l"/>
            <a:pathLst>
              <a:path h="1519163" w="5590079">
                <a:moveTo>
                  <a:pt x="0" y="0"/>
                </a:moveTo>
                <a:lnTo>
                  <a:pt x="5590079" y="0"/>
                </a:lnTo>
                <a:lnTo>
                  <a:pt x="5590079" y="1519163"/>
                </a:lnTo>
                <a:lnTo>
                  <a:pt x="0" y="151916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-5627" b="-7694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883548" y="6779866"/>
            <a:ext cx="5590079" cy="2230163"/>
          </a:xfrm>
          <a:custGeom>
            <a:avLst/>
            <a:gdLst/>
            <a:ahLst/>
            <a:cxnLst/>
            <a:rect r="r" b="b" t="t" l="l"/>
            <a:pathLst>
              <a:path h="2230163" w="5590079">
                <a:moveTo>
                  <a:pt x="0" y="0"/>
                </a:moveTo>
                <a:lnTo>
                  <a:pt x="5590079" y="0"/>
                </a:lnTo>
                <a:lnTo>
                  <a:pt x="5590079" y="2230163"/>
                </a:lnTo>
                <a:lnTo>
                  <a:pt x="0" y="223016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883548" y="5143500"/>
            <a:ext cx="5602622" cy="1417291"/>
          </a:xfrm>
          <a:custGeom>
            <a:avLst/>
            <a:gdLst/>
            <a:ahLst/>
            <a:cxnLst/>
            <a:rect r="r" b="b" t="t" l="l"/>
            <a:pathLst>
              <a:path h="1417291" w="5602622">
                <a:moveTo>
                  <a:pt x="0" y="0"/>
                </a:moveTo>
                <a:lnTo>
                  <a:pt x="5602622" y="0"/>
                </a:lnTo>
                <a:lnTo>
                  <a:pt x="5602622" y="1417291"/>
                </a:lnTo>
                <a:lnTo>
                  <a:pt x="0" y="141729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3340" t="0" r="-3340" b="-83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747244" y="4453332"/>
            <a:ext cx="5636823" cy="4556697"/>
          </a:xfrm>
          <a:custGeom>
            <a:avLst/>
            <a:gdLst/>
            <a:ahLst/>
            <a:cxnLst/>
            <a:rect r="r" b="b" t="t" l="l"/>
            <a:pathLst>
              <a:path h="4556697" w="5636823">
                <a:moveTo>
                  <a:pt x="0" y="0"/>
                </a:moveTo>
                <a:lnTo>
                  <a:pt x="5636823" y="0"/>
                </a:lnTo>
                <a:lnTo>
                  <a:pt x="5636823" y="4556697"/>
                </a:lnTo>
                <a:lnTo>
                  <a:pt x="0" y="455669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-2896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28700" y="8143564"/>
            <a:ext cx="4575017" cy="866465"/>
          </a:xfrm>
          <a:custGeom>
            <a:avLst/>
            <a:gdLst/>
            <a:ahLst/>
            <a:cxnLst/>
            <a:rect r="r" b="b" t="t" l="l"/>
            <a:pathLst>
              <a:path h="866465" w="4575017">
                <a:moveTo>
                  <a:pt x="0" y="0"/>
                </a:moveTo>
                <a:lnTo>
                  <a:pt x="4575017" y="0"/>
                </a:lnTo>
                <a:lnTo>
                  <a:pt x="4575017" y="866465"/>
                </a:lnTo>
                <a:lnTo>
                  <a:pt x="0" y="86646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-2149" r="0" b="-2149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7167265" y="266076"/>
            <a:ext cx="3953470" cy="929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88"/>
              </a:lnSpc>
            </a:pPr>
            <a:r>
              <a:rPr lang="en-US" b="true" sz="542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LIVE DEMO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05</a:t>
            </a:r>
          </a:p>
        </p:txBody>
      </p:sp>
    </p:spTree>
  </p:cSld>
  <p:clrMapOvr>
    <a:masterClrMapping/>
  </p:clrMapOvr>
  <p:transition spd="slow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668325" y="4041844"/>
            <a:ext cx="12951349" cy="1974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107"/>
              </a:lnSpc>
            </a:pPr>
            <a:r>
              <a:rPr lang="en-US" b="true" sz="11505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THANK YOU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06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DAHFVXqo5bM</dc:identifier>
  <dcterms:modified xsi:type="dcterms:W3CDTF">2011-08-01T06:04:30Z</dcterms:modified>
  <cp:revision>1</cp:revision>
  <dc:title>SMART HOSTEL AND ROOM ALLOCATION SYSTEM</dc:title>
</cp:coreProperties>
</file>